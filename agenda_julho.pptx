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libri" pitchFamily="34" charset="0"/>
      <p:regular r:id="rId3"/>
      <p:bold r:id="rId4"/>
      <p:italic r:id="rId5"/>
      <p:boldItalic r:id="rId6"/>
    </p:embeddedFont>
    <p:embeddedFont>
      <p:font typeface="Comic Sans MS" pitchFamily="66" charset="0"/>
      <p:regular r:id="rId7"/>
      <p:bold r:id="rId8"/>
      <p:italic r:id="rId9"/>
      <p:boldItalic r:id="rId10"/>
    </p:embeddedFont>
    <p:embeddedFont>
      <p:font typeface="Arapey Bold Italics" charset="0"/>
      <p:regular r:id="rId11"/>
    </p:embeddedFont>
    <p:embeddedFont>
      <p:font typeface="Sans Serif Collection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-1186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heme" Target="theme/theme1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r>
              <a:rPr lang="pt-BR" dirty="0" err="1" smtClean="0"/>
              <a:t>vvvvvvv</a:t>
            </a:r>
            <a:endParaRPr lang="pt-BR" dirty="0"/>
          </a:p>
        </p:txBody>
      </p:sp>
      <p:sp>
        <p:nvSpPr>
          <p:cNvPr id="3" name="TextBox 3"/>
          <p:cNvSpPr txBox="1"/>
          <p:nvPr/>
        </p:nvSpPr>
        <p:spPr>
          <a:xfrm>
            <a:off x="6674147" y="1000125"/>
            <a:ext cx="1196543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60"/>
              </a:lnSpc>
              <a:spcBef>
                <a:spcPct val="0"/>
              </a:spcBef>
            </a:pPr>
            <a:r>
              <a:rPr lang="en-US" sz="3200">
                <a:solidFill>
                  <a:srgbClr val="CB6CE6"/>
                </a:solidFill>
                <a:latin typeface="Comica"/>
                <a:ea typeface="Comica"/>
                <a:cs typeface="Comica"/>
                <a:sym typeface="Comica"/>
              </a:rPr>
              <a:t>AGENDA </a:t>
            </a:r>
            <a:r>
              <a:rPr lang="en-US" sz="3200" smtClean="0">
                <a:solidFill>
                  <a:srgbClr val="CB6CE6"/>
                </a:solidFill>
                <a:latin typeface="Comica"/>
                <a:ea typeface="Comica"/>
                <a:cs typeface="Comica"/>
                <a:sym typeface="Comica"/>
              </a:rPr>
              <a:t> SEMANAL  DE  </a:t>
            </a:r>
            <a:r>
              <a:rPr lang="en-US" sz="3200" dirty="0">
                <a:solidFill>
                  <a:srgbClr val="CB6CE6"/>
                </a:solidFill>
                <a:latin typeface="Comica"/>
                <a:ea typeface="Comica"/>
                <a:cs typeface="Comica"/>
                <a:sym typeface="Comica"/>
              </a:rPr>
              <a:t>ATIVIDADES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85886" y="357154"/>
            <a:ext cx="9941429" cy="1405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60"/>
              </a:lnSpc>
              <a:spcBef>
                <a:spcPct val="0"/>
              </a:spcBef>
            </a:pPr>
            <a:r>
              <a:rPr lang="en-US" sz="4114" dirty="0" smtClean="0">
                <a:solidFill>
                  <a:srgbClr val="000000"/>
                </a:solidFill>
              </a:rPr>
              <a:t>ESCOLA  MUNICIPAL  JULIETA  VIANA</a:t>
            </a:r>
          </a:p>
          <a:p>
            <a:pPr marL="0" lvl="0" indent="0" algn="ctr">
              <a:lnSpc>
                <a:spcPts val="4360"/>
              </a:lnSpc>
              <a:spcBef>
                <a:spcPct val="0"/>
              </a:spcBef>
            </a:pPr>
            <a:r>
              <a:rPr lang="en-US" sz="2800" smtClean="0">
                <a:solidFill>
                  <a:srgbClr val="FF66C4"/>
                </a:solidFill>
                <a:latin typeface="Comica"/>
                <a:ea typeface="Comica"/>
                <a:cs typeface="Comica"/>
                <a:sym typeface="Comica"/>
              </a:rPr>
              <a:t>De </a:t>
            </a:r>
            <a:r>
              <a:rPr lang="en-US" sz="2800" smtClean="0">
                <a:solidFill>
                  <a:srgbClr val="FF66C4"/>
                </a:solidFill>
                <a:latin typeface="Comica"/>
                <a:ea typeface="Comica"/>
                <a:cs typeface="Comica"/>
                <a:sym typeface="Comica"/>
              </a:rPr>
              <a:t>06/07/ </a:t>
            </a:r>
            <a:r>
              <a:rPr lang="en-US" sz="2800" smtClean="0">
                <a:solidFill>
                  <a:srgbClr val="FF66C4"/>
                </a:solidFill>
                <a:latin typeface="Comica"/>
                <a:ea typeface="Comica"/>
                <a:cs typeface="Comica"/>
                <a:sym typeface="Comica"/>
              </a:rPr>
              <a:t>á </a:t>
            </a:r>
            <a:r>
              <a:rPr lang="en-US" sz="2800" smtClean="0">
                <a:solidFill>
                  <a:srgbClr val="FF66C4"/>
                </a:solidFill>
                <a:latin typeface="Comica"/>
                <a:ea typeface="Comica"/>
                <a:cs typeface="Comica"/>
                <a:sym typeface="Comica"/>
              </a:rPr>
              <a:t>10/07/26</a:t>
            </a:r>
            <a:endParaRPr lang="en-US" sz="2800" dirty="0" smtClean="0">
              <a:solidFill>
                <a:srgbClr val="FF66C4"/>
              </a:solidFill>
              <a:latin typeface="Comica"/>
              <a:ea typeface="Comica"/>
              <a:cs typeface="Comica"/>
              <a:sym typeface="Comica"/>
            </a:endParaRPr>
          </a:p>
          <a:p>
            <a:endParaRPr lang="pt-BR" dirty="0"/>
          </a:p>
        </p:txBody>
      </p:sp>
      <p:grpSp>
        <p:nvGrpSpPr>
          <p:cNvPr id="5" name="Group 5"/>
          <p:cNvGrpSpPr/>
          <p:nvPr/>
        </p:nvGrpSpPr>
        <p:grpSpPr>
          <a:xfrm>
            <a:off x="571440" y="1500162"/>
            <a:ext cx="6215106" cy="4000529"/>
            <a:chOff x="-16244" y="-259679"/>
            <a:chExt cx="1254854" cy="1126985"/>
          </a:xfrm>
        </p:grpSpPr>
        <p:sp>
          <p:nvSpPr>
            <p:cNvPr id="6" name="Freeform 6"/>
            <p:cNvSpPr/>
            <p:nvPr/>
          </p:nvSpPr>
          <p:spPr>
            <a:xfrm>
              <a:off x="-16244" y="-259679"/>
              <a:ext cx="1254854" cy="1103507"/>
            </a:xfrm>
            <a:custGeom>
              <a:avLst/>
              <a:gdLst/>
              <a:ahLst/>
              <a:cxnLst/>
              <a:rect l="l" t="t" r="r" b="b"/>
              <a:pathLst>
                <a:path w="1238610" h="867306">
                  <a:moveTo>
                    <a:pt x="69498" y="0"/>
                  </a:moveTo>
                  <a:lnTo>
                    <a:pt x="1169112" y="0"/>
                  </a:lnTo>
                  <a:cubicBezTo>
                    <a:pt x="1207495" y="0"/>
                    <a:pt x="1238610" y="31115"/>
                    <a:pt x="1238610" y="69498"/>
                  </a:cubicBezTo>
                  <a:lnTo>
                    <a:pt x="1238610" y="797808"/>
                  </a:lnTo>
                  <a:cubicBezTo>
                    <a:pt x="1238610" y="836191"/>
                    <a:pt x="1207495" y="867306"/>
                    <a:pt x="1169112" y="867306"/>
                  </a:cubicBezTo>
                  <a:lnTo>
                    <a:pt x="69498" y="867306"/>
                  </a:lnTo>
                  <a:cubicBezTo>
                    <a:pt x="31115" y="867306"/>
                    <a:pt x="0" y="836191"/>
                    <a:pt x="0" y="797808"/>
                  </a:cubicBezTo>
                  <a:lnTo>
                    <a:pt x="0" y="69498"/>
                  </a:lnTo>
                  <a:cubicBezTo>
                    <a:pt x="0" y="31115"/>
                    <a:pt x="31115" y="0"/>
                    <a:pt x="694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8610" cy="914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29422" y="1928790"/>
            <a:ext cx="5643602" cy="3500462"/>
            <a:chOff x="-19188" y="-47625"/>
            <a:chExt cx="1266400" cy="921512"/>
          </a:xfrm>
        </p:grpSpPr>
        <p:sp>
          <p:nvSpPr>
            <p:cNvPr id="10" name="Freeform 10"/>
            <p:cNvSpPr/>
            <p:nvPr/>
          </p:nvSpPr>
          <p:spPr>
            <a:xfrm>
              <a:off x="-19188" y="-36138"/>
              <a:ext cx="1266400" cy="910025"/>
            </a:xfrm>
            <a:custGeom>
              <a:avLst/>
              <a:gdLst/>
              <a:ahLst/>
              <a:cxnLst/>
              <a:rect l="l" t="t" r="r" b="b"/>
              <a:pathLst>
                <a:path w="1247212" h="867306">
                  <a:moveTo>
                    <a:pt x="69018" y="0"/>
                  </a:moveTo>
                  <a:lnTo>
                    <a:pt x="1178194" y="0"/>
                  </a:lnTo>
                  <a:cubicBezTo>
                    <a:pt x="1196499" y="0"/>
                    <a:pt x="1214054" y="7272"/>
                    <a:pt x="1226997" y="20215"/>
                  </a:cubicBezTo>
                  <a:cubicBezTo>
                    <a:pt x="1239941" y="33158"/>
                    <a:pt x="1247212" y="50714"/>
                    <a:pt x="1247212" y="69018"/>
                  </a:cubicBezTo>
                  <a:lnTo>
                    <a:pt x="1247212" y="798288"/>
                  </a:lnTo>
                  <a:cubicBezTo>
                    <a:pt x="1247212" y="816593"/>
                    <a:pt x="1239941" y="834148"/>
                    <a:pt x="1226997" y="847091"/>
                  </a:cubicBezTo>
                  <a:cubicBezTo>
                    <a:pt x="1214054" y="860035"/>
                    <a:pt x="1196499" y="867306"/>
                    <a:pt x="1178194" y="867306"/>
                  </a:cubicBezTo>
                  <a:lnTo>
                    <a:pt x="69018" y="867306"/>
                  </a:lnTo>
                  <a:cubicBezTo>
                    <a:pt x="50714" y="867306"/>
                    <a:pt x="33158" y="860035"/>
                    <a:pt x="20215" y="847091"/>
                  </a:cubicBezTo>
                  <a:cubicBezTo>
                    <a:pt x="7272" y="834148"/>
                    <a:pt x="0" y="816593"/>
                    <a:pt x="0" y="798288"/>
                  </a:cubicBezTo>
                  <a:lnTo>
                    <a:pt x="0" y="69018"/>
                  </a:lnTo>
                  <a:cubicBezTo>
                    <a:pt x="0" y="50714"/>
                    <a:pt x="7272" y="33158"/>
                    <a:pt x="20215" y="20215"/>
                  </a:cubicBezTo>
                  <a:cubicBezTo>
                    <a:pt x="33158" y="7272"/>
                    <a:pt x="50714" y="0"/>
                    <a:pt x="6901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pt-BR" dirty="0" smtClean="0"/>
                <a:t>                                                                                                                     </a:t>
              </a:r>
              <a:endParaRPr lang="pt-BR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47212" cy="914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44462" y="1928790"/>
            <a:ext cx="5000660" cy="3429023"/>
            <a:chOff x="-16548" y="-47625"/>
            <a:chExt cx="1177031" cy="965484"/>
          </a:xfrm>
        </p:grpSpPr>
        <p:sp>
          <p:nvSpPr>
            <p:cNvPr id="13" name="Freeform 13"/>
            <p:cNvSpPr/>
            <p:nvPr/>
          </p:nvSpPr>
          <p:spPr>
            <a:xfrm>
              <a:off x="0" y="-47625"/>
              <a:ext cx="1160483" cy="946917"/>
            </a:xfrm>
            <a:custGeom>
              <a:avLst/>
              <a:gdLst/>
              <a:ahLst/>
              <a:cxnLst/>
              <a:rect l="l" t="t" r="r" b="b"/>
              <a:pathLst>
                <a:path w="1160483" h="861821">
                  <a:moveTo>
                    <a:pt x="74176" y="0"/>
                  </a:moveTo>
                  <a:lnTo>
                    <a:pt x="1086306" y="0"/>
                  </a:lnTo>
                  <a:cubicBezTo>
                    <a:pt x="1105979" y="0"/>
                    <a:pt x="1124846" y="7815"/>
                    <a:pt x="1138757" y="21726"/>
                  </a:cubicBezTo>
                  <a:cubicBezTo>
                    <a:pt x="1152668" y="35637"/>
                    <a:pt x="1160483" y="54504"/>
                    <a:pt x="1160483" y="74176"/>
                  </a:cubicBezTo>
                  <a:lnTo>
                    <a:pt x="1160483" y="787645"/>
                  </a:lnTo>
                  <a:cubicBezTo>
                    <a:pt x="1160483" y="807317"/>
                    <a:pt x="1152668" y="826184"/>
                    <a:pt x="1138757" y="840095"/>
                  </a:cubicBezTo>
                  <a:cubicBezTo>
                    <a:pt x="1124846" y="854006"/>
                    <a:pt x="1105979" y="861821"/>
                    <a:pt x="1086306" y="861821"/>
                  </a:cubicBezTo>
                  <a:lnTo>
                    <a:pt x="74176" y="861821"/>
                  </a:lnTo>
                  <a:cubicBezTo>
                    <a:pt x="54504" y="861821"/>
                    <a:pt x="35637" y="854006"/>
                    <a:pt x="21726" y="840095"/>
                  </a:cubicBezTo>
                  <a:cubicBezTo>
                    <a:pt x="7815" y="826184"/>
                    <a:pt x="0" y="807317"/>
                    <a:pt x="0" y="787645"/>
                  </a:cubicBezTo>
                  <a:lnTo>
                    <a:pt x="0" y="74176"/>
                  </a:lnTo>
                  <a:cubicBezTo>
                    <a:pt x="0" y="54504"/>
                    <a:pt x="7815" y="35637"/>
                    <a:pt x="21726" y="21726"/>
                  </a:cubicBezTo>
                  <a:cubicBezTo>
                    <a:pt x="35637" y="7815"/>
                    <a:pt x="54504" y="0"/>
                    <a:pt x="741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60483" cy="909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42" name="Freeform 13"/>
            <p:cNvSpPr/>
            <p:nvPr/>
          </p:nvSpPr>
          <p:spPr>
            <a:xfrm>
              <a:off x="-16548" y="-29058"/>
              <a:ext cx="1160483" cy="946917"/>
            </a:xfrm>
            <a:custGeom>
              <a:avLst/>
              <a:gdLst/>
              <a:ahLst/>
              <a:cxnLst/>
              <a:rect l="l" t="t" r="r" b="b"/>
              <a:pathLst>
                <a:path w="1160483" h="861821">
                  <a:moveTo>
                    <a:pt x="74176" y="0"/>
                  </a:moveTo>
                  <a:lnTo>
                    <a:pt x="1086306" y="0"/>
                  </a:lnTo>
                  <a:cubicBezTo>
                    <a:pt x="1105979" y="0"/>
                    <a:pt x="1124846" y="7815"/>
                    <a:pt x="1138757" y="21726"/>
                  </a:cubicBezTo>
                  <a:cubicBezTo>
                    <a:pt x="1152668" y="35637"/>
                    <a:pt x="1160483" y="54504"/>
                    <a:pt x="1160483" y="74176"/>
                  </a:cubicBezTo>
                  <a:lnTo>
                    <a:pt x="1160483" y="787645"/>
                  </a:lnTo>
                  <a:cubicBezTo>
                    <a:pt x="1160483" y="807317"/>
                    <a:pt x="1152668" y="826184"/>
                    <a:pt x="1138757" y="840095"/>
                  </a:cubicBezTo>
                  <a:cubicBezTo>
                    <a:pt x="1124846" y="854006"/>
                    <a:pt x="1105979" y="861821"/>
                    <a:pt x="1086306" y="861821"/>
                  </a:cubicBezTo>
                  <a:lnTo>
                    <a:pt x="74176" y="861821"/>
                  </a:lnTo>
                  <a:cubicBezTo>
                    <a:pt x="54504" y="861821"/>
                    <a:pt x="35637" y="854006"/>
                    <a:pt x="21726" y="840095"/>
                  </a:cubicBezTo>
                  <a:cubicBezTo>
                    <a:pt x="7815" y="826184"/>
                    <a:pt x="0" y="807317"/>
                    <a:pt x="0" y="787645"/>
                  </a:cubicBezTo>
                  <a:lnTo>
                    <a:pt x="0" y="74176"/>
                  </a:lnTo>
                  <a:cubicBezTo>
                    <a:pt x="0" y="54504"/>
                    <a:pt x="7815" y="35637"/>
                    <a:pt x="21726" y="21726"/>
                  </a:cubicBezTo>
                  <a:cubicBezTo>
                    <a:pt x="35637" y="7815"/>
                    <a:pt x="54504" y="0"/>
                    <a:pt x="7417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pt-BR" dirty="0" smtClean="0"/>
                <a:t>   </a:t>
              </a:r>
              <a:endParaRPr lang="pt-BR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0002" y="5715004"/>
            <a:ext cx="6143668" cy="3714776"/>
            <a:chOff x="-118957" y="-133940"/>
            <a:chExt cx="1380355" cy="1001246"/>
          </a:xfrm>
        </p:grpSpPr>
        <p:sp>
          <p:nvSpPr>
            <p:cNvPr id="16" name="Freeform 16"/>
            <p:cNvSpPr/>
            <p:nvPr/>
          </p:nvSpPr>
          <p:spPr>
            <a:xfrm>
              <a:off x="-118957" y="-133940"/>
              <a:ext cx="1380355" cy="1001246"/>
            </a:xfrm>
            <a:custGeom>
              <a:avLst/>
              <a:gdLst/>
              <a:ahLst/>
              <a:cxnLst/>
              <a:rect l="l" t="t" r="r" b="b"/>
              <a:pathLst>
                <a:path w="1261398" h="867306">
                  <a:moveTo>
                    <a:pt x="68242" y="0"/>
                  </a:moveTo>
                  <a:lnTo>
                    <a:pt x="1193156" y="0"/>
                  </a:lnTo>
                  <a:cubicBezTo>
                    <a:pt x="1230845" y="0"/>
                    <a:pt x="1261398" y="30553"/>
                    <a:pt x="1261398" y="68242"/>
                  </a:cubicBezTo>
                  <a:lnTo>
                    <a:pt x="1261398" y="799064"/>
                  </a:lnTo>
                  <a:cubicBezTo>
                    <a:pt x="1261398" y="836753"/>
                    <a:pt x="1230845" y="867306"/>
                    <a:pt x="1193156" y="867306"/>
                  </a:cubicBezTo>
                  <a:lnTo>
                    <a:pt x="68242" y="867306"/>
                  </a:lnTo>
                  <a:cubicBezTo>
                    <a:pt x="30553" y="867306"/>
                    <a:pt x="0" y="836753"/>
                    <a:pt x="0" y="799064"/>
                  </a:cubicBezTo>
                  <a:lnTo>
                    <a:pt x="0" y="68242"/>
                  </a:lnTo>
                  <a:cubicBezTo>
                    <a:pt x="0" y="30553"/>
                    <a:pt x="30553" y="0"/>
                    <a:pt x="682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61398" cy="914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43736" y="5715004"/>
            <a:ext cx="6500858" cy="4000528"/>
            <a:chOff x="-15351" y="-62382"/>
            <a:chExt cx="1258750" cy="929688"/>
          </a:xfrm>
        </p:grpSpPr>
        <p:sp>
          <p:nvSpPr>
            <p:cNvPr id="19" name="Freeform 19"/>
            <p:cNvSpPr/>
            <p:nvPr/>
          </p:nvSpPr>
          <p:spPr>
            <a:xfrm>
              <a:off x="-15351" y="-62382"/>
              <a:ext cx="1247511" cy="897067"/>
            </a:xfrm>
            <a:custGeom>
              <a:avLst/>
              <a:gdLst/>
              <a:ahLst/>
              <a:cxnLst/>
              <a:rect l="l" t="t" r="r" b="b"/>
              <a:pathLst>
                <a:path w="1243399" h="867306">
                  <a:moveTo>
                    <a:pt x="69230" y="0"/>
                  </a:moveTo>
                  <a:lnTo>
                    <a:pt x="1174169" y="0"/>
                  </a:lnTo>
                  <a:cubicBezTo>
                    <a:pt x="1212403" y="0"/>
                    <a:pt x="1243399" y="30995"/>
                    <a:pt x="1243399" y="69230"/>
                  </a:cubicBezTo>
                  <a:lnTo>
                    <a:pt x="1243399" y="798076"/>
                  </a:lnTo>
                  <a:cubicBezTo>
                    <a:pt x="1243399" y="836311"/>
                    <a:pt x="1212403" y="867306"/>
                    <a:pt x="1174169" y="867306"/>
                  </a:cubicBezTo>
                  <a:lnTo>
                    <a:pt x="69230" y="867306"/>
                  </a:lnTo>
                  <a:cubicBezTo>
                    <a:pt x="30995" y="867306"/>
                    <a:pt x="0" y="836311"/>
                    <a:pt x="0" y="798076"/>
                  </a:cubicBezTo>
                  <a:lnTo>
                    <a:pt x="0" y="69230"/>
                  </a:lnTo>
                  <a:cubicBezTo>
                    <a:pt x="0" y="30995"/>
                    <a:pt x="30995" y="0"/>
                    <a:pt x="6923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pt-BR" dirty="0" smtClean="0"/>
                <a:t>   </a:t>
              </a:r>
              <a:endParaRPr lang="pt-BR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243399" cy="914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671286" y="1986279"/>
            <a:ext cx="3980523" cy="609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399"/>
              </a:lnSpc>
              <a:spcBef>
                <a:spcPct val="0"/>
              </a:spcBef>
            </a:pPr>
            <a:r>
              <a:rPr lang="en-US" sz="2800" i="1" u="none" strike="noStrike" dirty="0" err="1" smtClean="0">
                <a:solidFill>
                  <a:srgbClr val="FF66C4"/>
                </a:solidFill>
                <a:latin typeface="Comic Sans MS" pitchFamily="66" charset="0"/>
                <a:ea typeface="Arapey Bold Italics"/>
                <a:cs typeface="Arial" pitchFamily="34" charset="0"/>
                <a:sym typeface="Arapey Bold Italics"/>
              </a:rPr>
              <a:t>Terça</a:t>
            </a:r>
            <a:endParaRPr lang="en-US" sz="2800" i="1" u="none" strike="noStrike" dirty="0">
              <a:solidFill>
                <a:srgbClr val="FF66C4"/>
              </a:solidFill>
              <a:latin typeface="Comic Sans MS" pitchFamily="66" charset="0"/>
              <a:ea typeface="Arapey Bold Italics"/>
              <a:cs typeface="Arial" pitchFamily="34" charset="0"/>
              <a:sym typeface="Arapey Bold Itali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909529" y="5500691"/>
            <a:ext cx="4516872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492"/>
              </a:lnSpc>
              <a:spcBef>
                <a:spcPct val="0"/>
              </a:spcBef>
            </a:pPr>
            <a:r>
              <a:rPr lang="en-US" sz="2800" i="1" u="none" strike="noStrike" dirty="0" err="1" smtClean="0">
                <a:solidFill>
                  <a:srgbClr val="FF751F"/>
                </a:solidFill>
                <a:latin typeface="Comic Sans MS" pitchFamily="66" charset="0"/>
                <a:ea typeface="Arapey Bold Italics"/>
                <a:cs typeface="Arapey Bold Italics"/>
                <a:sym typeface="Arapey Bold Italics"/>
              </a:rPr>
              <a:t>Sexta</a:t>
            </a:r>
            <a:endParaRPr lang="en-US" sz="2800" i="1" u="none" strike="noStrike" dirty="0">
              <a:solidFill>
                <a:srgbClr val="FF751F"/>
              </a:solidFill>
              <a:latin typeface="Comic Sans MS" pitchFamily="66" charset="0"/>
              <a:ea typeface="Arapey Bold Italics"/>
              <a:cs typeface="Arapey Bold Italics"/>
              <a:sym typeface="Arapey Bold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930214" y="1857352"/>
            <a:ext cx="4071966" cy="609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402"/>
              </a:lnSpc>
              <a:spcBef>
                <a:spcPct val="0"/>
              </a:spcBef>
            </a:pPr>
            <a:r>
              <a:rPr lang="en-US" sz="2800" i="1" u="none" strike="noStrike" dirty="0" smtClean="0">
                <a:solidFill>
                  <a:srgbClr val="FFA800"/>
                </a:solidFill>
                <a:latin typeface="Comic Sans MS" pitchFamily="66" charset="0"/>
                <a:ea typeface="Arapey Bold Italics"/>
                <a:cs typeface="Arapey Bold Italics"/>
                <a:sym typeface="Arapey Bold Italics"/>
              </a:rPr>
              <a:t>   </a:t>
            </a:r>
            <a:r>
              <a:rPr lang="en-US" sz="2800" i="1" u="none" strike="noStrike" dirty="0" err="1" smtClean="0">
                <a:solidFill>
                  <a:srgbClr val="FFA800"/>
                </a:solidFill>
                <a:latin typeface="Comic Sans MS" pitchFamily="66" charset="0"/>
                <a:ea typeface="Arapey Bold Italics"/>
                <a:cs typeface="Arial" pitchFamily="34" charset="0"/>
                <a:sym typeface="Arapey Bold Italics"/>
              </a:rPr>
              <a:t>Quarta</a:t>
            </a:r>
            <a:endParaRPr lang="en-US" sz="2800" i="1" u="none" strike="noStrike" dirty="0">
              <a:solidFill>
                <a:srgbClr val="FFA800"/>
              </a:solidFill>
              <a:latin typeface="Comic Sans MS" pitchFamily="66" charset="0"/>
              <a:ea typeface="Arapey Bold Italics"/>
              <a:cs typeface="Arial" pitchFamily="34" charset="0"/>
              <a:sym typeface="Arapey Bold Itali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50380" y="5643567"/>
            <a:ext cx="5103754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689"/>
              </a:lnSpc>
              <a:spcBef>
                <a:spcPct val="0"/>
              </a:spcBef>
            </a:pPr>
            <a:r>
              <a:rPr lang="en-US" sz="2800" i="1" dirty="0">
                <a:solidFill>
                  <a:srgbClr val="8C52FF"/>
                </a:solidFill>
                <a:latin typeface="Comic Sans MS" pitchFamily="66" charset="0"/>
                <a:ea typeface="Arapey Bold Italics"/>
                <a:cs typeface="Arapey Bold Italics"/>
                <a:sym typeface="Arapey Bold Italics"/>
              </a:rPr>
              <a:t>Quinta</a:t>
            </a:r>
          </a:p>
        </p:txBody>
      </p:sp>
      <p:sp>
        <p:nvSpPr>
          <p:cNvPr id="32" name="TextBox 11"/>
          <p:cNvSpPr txBox="1"/>
          <p:nvPr/>
        </p:nvSpPr>
        <p:spPr>
          <a:xfrm>
            <a:off x="6929422" y="1928790"/>
            <a:ext cx="5143537" cy="364333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9" name="TextBox 20"/>
          <p:cNvSpPr txBox="1"/>
          <p:nvPr/>
        </p:nvSpPr>
        <p:spPr>
          <a:xfrm>
            <a:off x="6715108" y="5715004"/>
            <a:ext cx="7215238" cy="39290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2659"/>
              </a:lnSpc>
            </a:pPr>
            <a:r>
              <a:rPr lang="pt-BR" sz="1600" b="1" dirty="0" smtClean="0">
                <a:latin typeface="Comic Sans MS" pitchFamily="66" charset="0"/>
              </a:rPr>
              <a:t> </a:t>
            </a:r>
          </a:p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1" name="TextBox 8"/>
          <p:cNvSpPr txBox="1"/>
          <p:nvPr/>
        </p:nvSpPr>
        <p:spPr>
          <a:xfrm>
            <a:off x="1071506" y="1500163"/>
            <a:ext cx="64294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i="1" u="none" strike="noStrike" dirty="0" smtClean="0">
                <a:solidFill>
                  <a:srgbClr val="CB6CE6"/>
                </a:solidFill>
                <a:latin typeface="Comic Sans MS" pitchFamily="66" charset="0"/>
                <a:ea typeface="Arapey Bold Italics"/>
                <a:cs typeface="Arial" pitchFamily="34" charset="0"/>
                <a:sym typeface="Arapey Bold Italics"/>
              </a:rPr>
              <a:t>                       </a:t>
            </a:r>
            <a:r>
              <a:rPr lang="en-US" sz="2800" i="1" dirty="0" err="1" smtClean="0">
                <a:solidFill>
                  <a:srgbClr val="FF66C4"/>
                </a:solidFill>
                <a:latin typeface="Comic Sans MS" pitchFamily="66" charset="0"/>
                <a:ea typeface="Arapey Bold Italics"/>
                <a:cs typeface="Arial" pitchFamily="34" charset="0"/>
                <a:sym typeface="Arapey Bold Italics"/>
              </a:rPr>
              <a:t>Segunda</a:t>
            </a:r>
            <a:endParaRPr lang="en-US" sz="2800" i="1" u="none" strike="noStrike" dirty="0">
              <a:solidFill>
                <a:srgbClr val="CB6CE6"/>
              </a:solidFill>
              <a:latin typeface="Comic Sans MS" pitchFamily="66" charset="0"/>
              <a:ea typeface="Arapey Bold Italics"/>
              <a:cs typeface="Arial" pitchFamily="34" charset="0"/>
              <a:sym typeface="Arapey Bold Italics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6929422" y="2571732"/>
            <a:ext cx="57864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 smtClean="0">
                <a:solidFill>
                  <a:srgbClr val="000000"/>
                </a:solidFill>
              </a:rPr>
              <a:t>            </a:t>
            </a:r>
            <a:endParaRPr lang="pt-BR" sz="14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tângulo 43"/>
          <p:cNvSpPr/>
          <p:nvPr/>
        </p:nvSpPr>
        <p:spPr>
          <a:xfrm rot="10800000" flipV="1">
            <a:off x="7215174" y="7602606"/>
            <a:ext cx="65008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smtClean="0">
                <a:latin typeface="Arial" pitchFamily="34" charset="0"/>
                <a:cs typeface="Arial" pitchFamily="34" charset="0"/>
              </a:rPr>
              <a:t>                                           </a:t>
            </a:r>
            <a:endParaRPr lang="pt-B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857192" y="7000888"/>
            <a:ext cx="55007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pt-BR" sz="1600" b="1" dirty="0" smtClean="0">
                <a:latin typeface="Comic Sans MS" pitchFamily="66" charset="0"/>
                <a:cs typeface="Arial" pitchFamily="34" charset="0"/>
              </a:rPr>
              <a:t>BRINCADEIRAS CANTADAS E EXPRESSÃO CORPORAL;</a:t>
            </a:r>
          </a:p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r>
              <a:rPr lang="pt-BR" sz="1600" b="1" dirty="0" smtClean="0">
                <a:latin typeface="Comic Sans MS" pitchFamily="66" charset="0"/>
                <a:cs typeface="Arial" pitchFamily="34" charset="0"/>
              </a:rPr>
              <a:t>-ESCUTA E APRECIAÇÃO DE </a:t>
            </a:r>
            <a:r>
              <a:rPr lang="pt-BR" sz="1600" b="1" dirty="0" smtClean="0">
                <a:latin typeface="Comic Sans MS" pitchFamily="66" charset="0"/>
                <a:cs typeface="Arial" pitchFamily="34" charset="0"/>
              </a:rPr>
              <a:t>MÚSICAS.</a:t>
            </a:r>
            <a:endParaRPr lang="pt-BR" sz="1600" b="1" dirty="0"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1428696" y="3071798"/>
            <a:ext cx="4786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1400" b="1" dirty="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endParaRPr lang="pt-BR" dirty="0"/>
          </a:p>
        </p:txBody>
      </p:sp>
      <p:sp>
        <p:nvSpPr>
          <p:cNvPr id="49" name="CaixaDeTexto 48"/>
          <p:cNvSpPr txBox="1"/>
          <p:nvPr/>
        </p:nvSpPr>
        <p:spPr>
          <a:xfrm>
            <a:off x="12930214" y="3214674"/>
            <a:ext cx="4714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pt-BR" sz="2400" dirty="0" smtClean="0">
                <a:latin typeface="Comic Sans MS" pitchFamily="66" charset="0"/>
                <a:ea typeface="Sans Serif Collection" pitchFamily="34" charset="0"/>
                <a:cs typeface="Sans Serif Collection" pitchFamily="34" charset="0"/>
              </a:rPr>
              <a:t>      </a:t>
            </a:r>
            <a:endParaRPr lang="pt-BR" sz="2400" b="1" dirty="0">
              <a:latin typeface="Comic Sans MS" pitchFamily="66" charset="0"/>
              <a:ea typeface="Sans Serif Collection" pitchFamily="34" charset="0"/>
              <a:cs typeface="Sans Serif Collection" pitchFamily="34" charset="0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7215174" y="8572524"/>
            <a:ext cx="6643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  </a:t>
            </a:r>
            <a:endParaRPr lang="pt-BR" b="1" dirty="0" smtClean="0"/>
          </a:p>
          <a:p>
            <a:r>
              <a:rPr lang="pt-BR" b="1" dirty="0" smtClean="0"/>
              <a:t>                       </a:t>
            </a:r>
            <a:r>
              <a:rPr lang="pt-BR" b="1" dirty="0" smtClean="0"/>
              <a:t>                                                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Bom Final de Semana!</a:t>
            </a:r>
            <a:endParaRPr lang="pt-BR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 rot="10800000" flipV="1">
            <a:off x="12858776" y="3295995"/>
            <a:ext cx="4286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        </a:t>
            </a:r>
            <a:endParaRPr lang="pt-BR" sz="14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endParaRPr lang="pt-BR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12858776" y="2857484"/>
            <a:ext cx="4357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 err="1" smtClean="0">
                <a:latin typeface="Arial" pitchFamily="34" charset="0"/>
                <a:cs typeface="Arial" pitchFamily="34" charset="0"/>
              </a:rPr>
              <a:t>Contação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 de histórias com fantoche e livro ilustrado;</a:t>
            </a:r>
          </a:p>
          <a:p>
            <a:pPr algn="just"/>
            <a:r>
              <a:rPr lang="pt-BR" b="1" dirty="0" smtClean="0">
                <a:latin typeface="Arial" pitchFamily="34" charset="0"/>
                <a:cs typeface="Arial" pitchFamily="34" charset="0"/>
              </a:rPr>
              <a:t>Conversa sobre os personagens,acontecimentos e a importância da amizade e do brincar.</a:t>
            </a:r>
            <a:endParaRPr lang="pt-BR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929422" y="2786046"/>
            <a:ext cx="55007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Arial" pitchFamily="34" charset="0"/>
                <a:cs typeface="Arial" pitchFamily="34" charset="0"/>
              </a:rPr>
              <a:t>Pintura livre;</a:t>
            </a:r>
          </a:p>
          <a:p>
            <a:r>
              <a:rPr lang="pt-BR" b="1" dirty="0" smtClean="0">
                <a:latin typeface="Arial" pitchFamily="34" charset="0"/>
                <a:cs typeface="Arial" pitchFamily="34" charset="0"/>
              </a:rPr>
              <a:t>Roda de conversa sobre o nome;</a:t>
            </a:r>
          </a:p>
          <a:p>
            <a:r>
              <a:rPr lang="pt-BR" b="1" dirty="0" smtClean="0">
                <a:latin typeface="Arial" pitchFamily="34" charset="0"/>
                <a:cs typeface="Arial" pitchFamily="34" charset="0"/>
              </a:rPr>
              <a:t>Primeira letra do nome</a:t>
            </a:r>
            <a:r>
              <a:rPr lang="pt-BR" sz="1400" b="1" dirty="0" smtClean="0">
                <a:latin typeface="Arial" pitchFamily="34" charset="0"/>
                <a:cs typeface="Arial" pitchFamily="34" charset="0"/>
              </a:rPr>
              <a:t>.</a:t>
            </a:r>
            <a:endParaRPr lang="pt-BR" sz="1400" b="1" dirty="0" smtClean="0">
              <a:latin typeface="Arial" pitchFamily="34" charset="0"/>
              <a:cs typeface="Arial" pitchFamily="34" charset="0"/>
            </a:endParaRPr>
          </a:p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642878" y="1643038"/>
            <a:ext cx="60722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pPr algn="just"/>
            <a:r>
              <a:rPr lang="pt-BR" b="1" dirty="0" smtClean="0">
                <a:latin typeface="Arial" pitchFamily="34" charset="0"/>
                <a:cs typeface="Arial" pitchFamily="34" charset="0"/>
              </a:rPr>
              <a:t>Nesta semana,será de acolhimento após o recesso com atividades que favorecem a adaptação,a socialização,oralidade,,imaginação e o desenvolvimento da linguagem por meio de brincadeiras e histórias.  </a:t>
            </a:r>
            <a:r>
              <a:rPr lang="pt-BR" sz="1600" b="1" dirty="0" smtClean="0">
                <a:latin typeface="Arial" pitchFamily="34" charset="0"/>
                <a:cs typeface="Arial" pitchFamily="34" charset="0"/>
              </a:rPr>
              <a:t>                                                          </a:t>
            </a:r>
            <a:endParaRPr lang="pt-BR" sz="1600" b="1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1600" b="1" dirty="0" smtClean="0">
                <a:latin typeface="Comic Sans MS" pitchFamily="66" charset="0"/>
                <a:cs typeface="Arial" pitchFamily="34" charset="0"/>
              </a:rPr>
              <a:t>                                            </a:t>
            </a:r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endParaRPr lang="pt-BR" sz="1600" b="1" dirty="0" smtClean="0">
              <a:latin typeface="Comic Sans MS" pitchFamily="66" charset="0"/>
              <a:cs typeface="Arial" pitchFamily="34" charset="0"/>
            </a:endParaRPr>
          </a:p>
          <a:p>
            <a:r>
              <a:rPr lang="pt-BR" sz="1600" b="1" dirty="0" smtClean="0">
                <a:latin typeface="Comic Sans MS" pitchFamily="66" charset="0"/>
                <a:cs typeface="Arial" pitchFamily="34" charset="0"/>
              </a:rPr>
              <a:t> </a:t>
            </a:r>
            <a:r>
              <a:rPr lang="pt-BR" sz="1600" b="1" dirty="0" smtClean="0">
                <a:latin typeface="Comic Sans MS" pitchFamily="66" charset="0"/>
                <a:cs typeface="Arial" pitchFamily="34" charset="0"/>
              </a:rPr>
              <a:t>                                        </a:t>
            </a:r>
            <a:r>
              <a:rPr lang="pt-BR" sz="1600" b="1" dirty="0" smtClean="0">
                <a:latin typeface="Comic Sans MS" pitchFamily="66" charset="0"/>
                <a:cs typeface="Arial" pitchFamily="34" charset="0"/>
              </a:rPr>
              <a:t> </a:t>
            </a:r>
            <a:r>
              <a:rPr lang="pt-BR" sz="1600" b="1" dirty="0" smtClean="0">
                <a:latin typeface="Comic Sans MS" pitchFamily="66" charset="0"/>
                <a:cs typeface="Arial" pitchFamily="34" charset="0"/>
              </a:rPr>
              <a:t>ÓTIMA  SEMANA!</a:t>
            </a:r>
            <a:endParaRPr lang="pt-BR" sz="1600" b="1" dirty="0"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8358183" y="6715136"/>
            <a:ext cx="14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7" name="CaixaDeTexto 46"/>
          <p:cNvSpPr txBox="1"/>
          <p:nvPr/>
        </p:nvSpPr>
        <p:spPr>
          <a:xfrm>
            <a:off x="7643803" y="7000888"/>
            <a:ext cx="5857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Arial" pitchFamily="34" charset="0"/>
                <a:cs typeface="Arial" pitchFamily="34" charset="0"/>
              </a:rPr>
              <a:t>Reconto da história com apoio de imagens e fantoches;</a:t>
            </a:r>
          </a:p>
          <a:p>
            <a:r>
              <a:rPr lang="pt-BR" b="1" dirty="0" smtClean="0">
                <a:latin typeface="Arial" pitchFamily="34" charset="0"/>
                <a:cs typeface="Arial" pitchFamily="34" charset="0"/>
              </a:rPr>
              <a:t>Incentivo á oralidade,á imaginação e á memória.</a:t>
            </a:r>
            <a:endParaRPr lang="pt-BR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5795</TotalTime>
  <Words>138</Words>
  <Application>Microsoft Office PowerPoint</Application>
  <PresentationFormat>Personalizar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Comica</vt:lpstr>
      <vt:lpstr>Comic Sans MS</vt:lpstr>
      <vt:lpstr>Arapey Bold Italics</vt:lpstr>
      <vt:lpstr>Sans Serif Collection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Aventura Em Branco Aula Semanal Calendário</dc:title>
  <dc:creator>Davi Tocchetto</dc:creator>
  <cp:lastModifiedBy>Davi Tocchetto</cp:lastModifiedBy>
  <cp:revision>180</cp:revision>
  <dcterms:created xsi:type="dcterms:W3CDTF">2006-08-16T00:00:00Z</dcterms:created>
  <dcterms:modified xsi:type="dcterms:W3CDTF">2026-07-05T23:52:23Z</dcterms:modified>
  <dc:identifier>DAHDr_LfacE</dc:identifier>
</cp:coreProperties>
</file>